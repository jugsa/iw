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Urbanist" panose="020B0604020202020204" charset="0"/>
      <p:regular r:id="rId14"/>
      <p:bold r:id="rId15"/>
      <p:italic r:id="rId16"/>
      <p:bold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Urbanist Medium" panose="020B060402020202020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0660CB3-F4AB-4DD4-94E0-2D7859376034}">
  <a:tblStyle styleId="{C0660CB3-F4AB-4DD4-94E0-2D785937603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19750" y="1600200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70609" y="2838450"/>
            <a:ext cx="6250781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Tabelas no HTML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4019550" y="3752850"/>
            <a:ext cx="415290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Estrutura e Estilização Nativa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198550" y="4800600"/>
            <a:ext cx="38589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Interfaces Web I | Profª Juliana de Sá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3120628" y="2190750"/>
            <a:ext cx="5950743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Por que usar Tabelas?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5619750" y="3162300"/>
            <a:ext cx="952500" cy="476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286000" y="3495675"/>
            <a:ext cx="7620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As tabelas são fundamentais para organizar dados tabulares, como preços, horários, resultados e listas de informações relacionadas em linhas e colunas.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09862"/>
            <a:ext cx="3492549" cy="2717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709862"/>
            <a:ext cx="3492549" cy="2717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709862"/>
            <a:ext cx="3492549" cy="2717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89100" y="3005137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866775" y="3652837"/>
            <a:ext cx="2901999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&lt;table&gt;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contêiner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principal que define o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início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e o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fim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da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tabela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107" name="Google Shape;10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95975" y="3005137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4645074" y="3652837"/>
            <a:ext cx="2901999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&lt;TR&gt;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Representa</a:t>
            </a: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 </a:t>
            </a:r>
            <a:r>
              <a:rPr lang="en-US" sz="165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Table Row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Linha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).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Cada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linha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deve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conter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células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109" name="Google Shape;109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4274" y="3005137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423374" y="3652837"/>
            <a:ext cx="2901999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&lt;TD&gt;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Representa</a:t>
            </a:r>
            <a:r>
              <a:rPr lang="en-US" sz="1650" b="0" i="0" u="none" strike="noStrike" cap="none" dirty="0" smtClean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 </a:t>
            </a:r>
            <a:r>
              <a:rPr lang="en-US" sz="165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Table Data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Célula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). É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onde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o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conteúdo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mora.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As Três Tags Base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/>
        </p:nvSpPr>
        <p:spPr>
          <a:xfrm>
            <a:off x="571500" y="28622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Table Header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71500" y="3081337"/>
            <a:ext cx="528637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Usamos a tag  em vez de  para as células de cabeçalho.</a:t>
            </a:r>
            <a:endParaRPr/>
          </a:p>
        </p:txBody>
      </p:sp>
      <p:pic>
        <p:nvPicPr>
          <p:cNvPr id="120" name="Google Shape;12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3650" y="1976437"/>
            <a:ext cx="17526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952500" y="3595687"/>
            <a:ext cx="4905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Texto em negrito.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952500" y="4005262"/>
            <a:ext cx="4905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Texto centralizado.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952500" y="4414837"/>
            <a:ext cx="4905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Facilita a leitura por robôs.</a:t>
            </a:r>
            <a:endParaRPr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363855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404812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4457700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Cabeçalhos</a:t>
            </a:r>
            <a:r>
              <a:rPr lang="en-US" sz="33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300" b="1" i="0" u="none" strike="noStrike" cap="none" dirty="0" smtClean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com &lt;TH&gt;</a:t>
            </a:r>
            <a:endParaRPr dirty="0"/>
          </a:p>
        </p:txBody>
      </p:sp>
      <p:sp>
        <p:nvSpPr>
          <p:cNvPr id="128" name="Google Shape;128;p16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77575" y="2207425"/>
            <a:ext cx="5066850" cy="29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6334125" y="3076575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Atributos Importantes: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6334125" y="3295650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border: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Define a grossura da borda (em pixels).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6334125" y="3752850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width: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Define a largura da tabela ou célula.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334125" y="4210050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align: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Alinha a tabela (left, center, right).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Estrutura Visual Clássica</a:t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1009850" y="3076575"/>
            <a:ext cx="39810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&lt;table border="1"&gt;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&lt;tr&gt;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  &lt;th&gt;Nome&lt;/th&gt;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  &lt;th&gt;Idade&lt;/th&gt;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&lt;/tr&gt;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&lt;/table&gt;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6334125" y="2657475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Estilo sem CSS</a:t>
            </a:r>
            <a:endParaRPr/>
          </a:p>
        </p:txBody>
      </p:sp>
      <p:sp>
        <p:nvSpPr>
          <p:cNvPr id="148" name="Google Shape;148;p18"/>
          <p:cNvSpPr txBox="1"/>
          <p:nvPr/>
        </p:nvSpPr>
        <p:spPr>
          <a:xfrm>
            <a:off x="6334125" y="2876550"/>
            <a:ext cx="5286375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 atributo bgcolor pode ser aplicado em três níveis para mudar a cor de fundo:</a:t>
            </a:r>
            <a:endParaRPr/>
          </a:p>
        </p:txBody>
      </p:sp>
      <p:sp>
        <p:nvSpPr>
          <p:cNvPr id="149" name="Google Shape;149;p18"/>
          <p:cNvSpPr txBox="1"/>
          <p:nvPr/>
        </p:nvSpPr>
        <p:spPr>
          <a:xfrm>
            <a:off x="6334125" y="3705225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- Tabela toda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6334125" y="4162425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- A linha toda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6334125" y="4619625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- Apenas uma célula</a:t>
            </a:r>
            <a:endParaRPr/>
          </a:p>
        </p:txBody>
      </p:sp>
      <p:pic>
        <p:nvPicPr>
          <p:cNvPr id="152" name="Google Shape;15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748087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205287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662487"/>
            <a:ext cx="2381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Cores com 'bgcolor'</a:t>
            </a: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96" y="1759875"/>
            <a:ext cx="5131175" cy="419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14600"/>
            <a:ext cx="533400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514600"/>
            <a:ext cx="533400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443162" y="4476750"/>
            <a:ext cx="730567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866775" y="2809875"/>
            <a:ext cx="498062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cellpadding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866775" y="3028950"/>
            <a:ext cx="4743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Define o espaço entre a </a:t>
            </a: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borda da célula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e o </a:t>
            </a: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conteúdo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(o texto).</a:t>
            </a:r>
            <a:endParaRPr/>
          </a:p>
        </p:txBody>
      </p:sp>
      <p:sp>
        <p:nvSpPr>
          <p:cNvPr id="168" name="Google Shape;168;p19"/>
          <p:cNvSpPr txBox="1"/>
          <p:nvPr/>
        </p:nvSpPr>
        <p:spPr>
          <a:xfrm>
            <a:off x="6581775" y="2809875"/>
            <a:ext cx="498062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BF24"/>
                </a:solidFill>
                <a:latin typeface="Urbanist"/>
                <a:ea typeface="Urbanist"/>
                <a:cs typeface="Urbanist"/>
                <a:sym typeface="Urbanist"/>
              </a:rPr>
              <a:t>cellspacing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6581775" y="3028950"/>
            <a:ext cx="47434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Define o espaço </a:t>
            </a:r>
            <a:r>
              <a:rPr lang="en-US" sz="16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entre as células</a:t>
            </a: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da tabela.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Ajustando o Espaço</a:t>
            </a:r>
            <a:endParaRPr/>
          </a:p>
        </p:txBody>
      </p:sp>
      <p:sp>
        <p:nvSpPr>
          <p:cNvPr id="171" name="Google Shape;171;p19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1850" y="-7922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0"/>
          <p:cNvSpPr txBox="1"/>
          <p:nvPr/>
        </p:nvSpPr>
        <p:spPr>
          <a:xfrm>
            <a:off x="571500" y="3143250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Atributo: colspan</a:t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571500" y="3362325"/>
            <a:ext cx="5286375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 colspan permite que uma única célula se estenda por várias colunas.</a:t>
            </a:r>
            <a:endParaRPr/>
          </a:p>
        </p:txBody>
      </p:sp>
      <p:sp>
        <p:nvSpPr>
          <p:cNvPr id="179" name="Google Shape;179;p20"/>
          <p:cNvSpPr txBox="1"/>
          <p:nvPr/>
        </p:nvSpPr>
        <p:spPr>
          <a:xfrm>
            <a:off x="571500" y="4143375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Ideal para títulos que ocupam toda a largura da tabela.</a:t>
            </a:r>
            <a:endParaRPr/>
          </a:p>
        </p:txBody>
      </p:sp>
      <p:sp>
        <p:nvSpPr>
          <p:cNvPr id="180" name="Google Shape;180;p20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Mesclando Colunas</a:t>
            </a:r>
            <a:endParaRPr/>
          </a:p>
        </p:txBody>
      </p:sp>
      <p:sp>
        <p:nvSpPr>
          <p:cNvPr id="181" name="Google Shape;181;p20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 txBox="1"/>
          <p:nvPr/>
        </p:nvSpPr>
        <p:spPr>
          <a:xfrm>
            <a:off x="7333300" y="3277313"/>
            <a:ext cx="30000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&lt;td colspan="2"&gt;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Título Centralizado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&lt;/td&gt;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/>
          <p:nvPr/>
        </p:nvSpPr>
        <p:spPr>
          <a:xfrm>
            <a:off x="6334125" y="3143250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Atributo: rowspan</a:t>
            </a:r>
            <a:endParaRPr/>
          </a:p>
        </p:txBody>
      </p:sp>
      <p:sp>
        <p:nvSpPr>
          <p:cNvPr id="189" name="Google Shape;189;p21"/>
          <p:cNvSpPr txBox="1"/>
          <p:nvPr/>
        </p:nvSpPr>
        <p:spPr>
          <a:xfrm>
            <a:off x="6334125" y="3362325"/>
            <a:ext cx="5286375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 rowspan permite que uma célula se estenda por várias linhas (verticalmente).</a:t>
            </a:r>
            <a:endParaRPr/>
          </a:p>
        </p:txBody>
      </p:sp>
      <p:sp>
        <p:nvSpPr>
          <p:cNvPr id="190" name="Google Shape;190;p21"/>
          <p:cNvSpPr txBox="1"/>
          <p:nvPr/>
        </p:nvSpPr>
        <p:spPr>
          <a:xfrm>
            <a:off x="6334125" y="4143375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BBF24"/>
                </a:solidFill>
                <a:latin typeface="Urbanist"/>
                <a:ea typeface="Urbanist"/>
                <a:cs typeface="Urbanist"/>
                <a:sym typeface="Urbanist"/>
              </a:rPr>
              <a:t>Muito comum em calendários ou cronogramas de aula.</a:t>
            </a:r>
            <a:endParaRPr/>
          </a:p>
        </p:txBody>
      </p:sp>
      <p:sp>
        <p:nvSpPr>
          <p:cNvPr id="191" name="Google Shape;191;p21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Mesclando Linhas</a:t>
            </a:r>
            <a:endParaRPr/>
          </a:p>
        </p:txBody>
      </p:sp>
      <p:sp>
        <p:nvSpPr>
          <p:cNvPr id="192" name="Google Shape;192;p21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 txBox="1"/>
          <p:nvPr/>
        </p:nvSpPr>
        <p:spPr>
          <a:xfrm>
            <a:off x="973250" y="3362325"/>
            <a:ext cx="30000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&lt;td rowspan="2"&gt;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  Item Vertical</a:t>
            </a:r>
            <a:endParaRPr sz="1350">
              <a:solidFill>
                <a:srgbClr val="22D3EE"/>
              </a:solidFill>
              <a:highlight>
                <a:srgbClr val="01040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22D3EE"/>
                </a:solidFill>
                <a:highlight>
                  <a:srgbClr val="010409"/>
                </a:highlight>
                <a:latin typeface="Courier New"/>
                <a:ea typeface="Courier New"/>
                <a:cs typeface="Courier New"/>
                <a:sym typeface="Courier New"/>
              </a:rPr>
              <a:t>&lt;/td&gt;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Google Shape;19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2"/>
          <p:cNvSpPr/>
          <p:nvPr/>
        </p:nvSpPr>
        <p:spPr>
          <a:xfrm>
            <a:off x="1676400" y="3000375"/>
            <a:ext cx="8839200" cy="1743075"/>
          </a:xfrm>
          <a:prstGeom prst="roundRect">
            <a:avLst>
              <a:gd name="adj" fmla="val 0"/>
            </a:avLst>
          </a:prstGeom>
          <a:solidFill>
            <a:srgbClr val="1E293B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0" name="Google Shape;200;p22"/>
          <p:cNvGraphicFramePr/>
          <p:nvPr/>
        </p:nvGraphicFramePr>
        <p:xfrm>
          <a:off x="1676400" y="3000375"/>
          <a:ext cx="8820150" cy="1743075"/>
        </p:xfrm>
        <a:graphic>
          <a:graphicData uri="http://schemas.openxmlformats.org/drawingml/2006/table">
            <a:tbl>
              <a:tblPr firstRow="1" bandRow="1">
                <a:noFill/>
                <a:tableStyleId>{C0660CB3-F4AB-4DD4-94E0-2D7859376034}</a:tableStyleId>
              </a:tblPr>
              <a:tblGrid>
                <a:gridCol w="3901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6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chemeClr val="dk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chemeClr val="dk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Preço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chemeClr val="dk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Estoque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Teclado RGB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R$ 150,00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20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Mouse Gamer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R$ 80,00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1" name="Google Shape;201;p22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Exemplo Prático</a:t>
            </a:r>
            <a:endParaRPr/>
          </a:p>
        </p:txBody>
      </p:sp>
      <p:sp>
        <p:nvSpPr>
          <p:cNvPr id="202" name="Google Shape;202;p22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19750" y="1509712"/>
            <a:ext cx="9525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3"/>
          <p:cNvSpPr txBox="1"/>
          <p:nvPr/>
        </p:nvSpPr>
        <p:spPr>
          <a:xfrm>
            <a:off x="4055744" y="2557462"/>
            <a:ext cx="408051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Mão na Massa!</a:t>
            </a:r>
            <a:endParaRPr/>
          </a:p>
        </p:txBody>
      </p:sp>
      <p:sp>
        <p:nvSpPr>
          <p:cNvPr id="210" name="Google Shape;210;p23"/>
          <p:cNvSpPr txBox="1"/>
          <p:nvPr/>
        </p:nvSpPr>
        <p:spPr>
          <a:xfrm>
            <a:off x="3781425" y="3433762"/>
            <a:ext cx="46291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Crie uma tabela de </a:t>
            </a:r>
            <a:r>
              <a:rPr lang="en-US" sz="195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Horário de Aulas</a:t>
            </a:r>
            <a:r>
              <a:rPr lang="en-US" sz="19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com:</a:t>
            </a:r>
            <a:endParaRPr/>
          </a:p>
        </p:txBody>
      </p:sp>
      <p:sp>
        <p:nvSpPr>
          <p:cNvPr id="211" name="Google Shape;211;p23"/>
          <p:cNvSpPr txBox="1"/>
          <p:nvPr/>
        </p:nvSpPr>
        <p:spPr>
          <a:xfrm>
            <a:off x="3990975" y="4090987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2" name="Google Shape;212;p23"/>
          <p:cNvSpPr txBox="1"/>
          <p:nvPr/>
        </p:nvSpPr>
        <p:spPr>
          <a:xfrm>
            <a:off x="4029075" y="4090987"/>
            <a:ext cx="45148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Bordas visíveis (border="1").</a:t>
            </a:r>
            <a:endParaRPr/>
          </a:p>
        </p:txBody>
      </p:sp>
      <p:sp>
        <p:nvSpPr>
          <p:cNvPr id="213" name="Google Shape;213;p23"/>
          <p:cNvSpPr txBox="1"/>
          <p:nvPr/>
        </p:nvSpPr>
        <p:spPr>
          <a:xfrm>
            <a:off x="3990975" y="448151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4" name="Google Shape;214;p23"/>
          <p:cNvSpPr txBox="1"/>
          <p:nvPr/>
        </p:nvSpPr>
        <p:spPr>
          <a:xfrm>
            <a:off x="4029075" y="4481512"/>
            <a:ext cx="45148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Cabeçalhos (th) coloridos com bgcolor.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3990975" y="488156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6" name="Google Shape;216;p23"/>
          <p:cNvSpPr txBox="1"/>
          <p:nvPr/>
        </p:nvSpPr>
        <p:spPr>
          <a:xfrm>
            <a:off x="4029075" y="4881562"/>
            <a:ext cx="45148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Células de aula com cores diferentes por matéria.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</Words>
  <Application>Microsoft Office PowerPoint</Application>
  <PresentationFormat>Widescreen</PresentationFormat>
  <Paragraphs>72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Courier New</vt:lpstr>
      <vt:lpstr>Urbanist</vt:lpstr>
      <vt:lpstr>Calibri</vt:lpstr>
      <vt:lpstr>Urbanist Medium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Prof. Juliana de Sá</cp:lastModifiedBy>
  <cp:revision>1</cp:revision>
  <dcterms:modified xsi:type="dcterms:W3CDTF">2026-05-05T23:15:45Z</dcterms:modified>
</cp:coreProperties>
</file>