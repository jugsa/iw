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  <p:embeddedFont>
      <p:font typeface="Fira Code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3897C9D-365C-473B-9658-7F41A383D99F}">
  <a:tblStyle styleId="{B3897C9D-365C-473B-9658-7F41A383D99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8" Type="http://schemas.openxmlformats.org/officeDocument/2006/relationships/font" Target="fonts/FiraCode-bold.fntdata"/><Relationship Id="rId27" Type="http://schemas.openxmlformats.org/officeDocument/2006/relationships/font" Target="fonts/FiraCode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oppins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9" Type="http://schemas.openxmlformats.org/officeDocument/2006/relationships/image" Target="../media/image12.png"/><Relationship Id="rId5" Type="http://schemas.openxmlformats.org/officeDocument/2006/relationships/image" Target="../media/image1.png"/><Relationship Id="rId6" Type="http://schemas.openxmlformats.org/officeDocument/2006/relationships/image" Target="../media/image10.png"/><Relationship Id="rId7" Type="http://schemas.openxmlformats.org/officeDocument/2006/relationships/image" Target="../media/image3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28.png"/><Relationship Id="rId5" Type="http://schemas.openxmlformats.org/officeDocument/2006/relationships/image" Target="../media/image13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11" Type="http://schemas.openxmlformats.org/officeDocument/2006/relationships/image" Target="../media/image20.png"/><Relationship Id="rId10" Type="http://schemas.openxmlformats.org/officeDocument/2006/relationships/image" Target="../media/image24.png"/><Relationship Id="rId9" Type="http://schemas.openxmlformats.org/officeDocument/2006/relationships/image" Target="../media/image26.png"/><Relationship Id="rId5" Type="http://schemas.openxmlformats.org/officeDocument/2006/relationships/image" Target="../media/image25.png"/><Relationship Id="rId6" Type="http://schemas.openxmlformats.org/officeDocument/2006/relationships/image" Target="../media/image21.png"/><Relationship Id="rId7" Type="http://schemas.openxmlformats.org/officeDocument/2006/relationships/image" Target="../media/image27.png"/><Relationship Id="rId8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93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660570" y="3504307"/>
            <a:ext cx="6870858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9FAFB"/>
                </a:solidFill>
                <a:latin typeface="Poppins"/>
                <a:ea typeface="Poppins"/>
                <a:cs typeface="Poppins"/>
                <a:sym typeface="Poppins"/>
              </a:rPr>
              <a:t>HTML e Estrutura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657600" y="4533007"/>
            <a:ext cx="48768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Interfaces Web I | Profª Juliana de Sá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94557"/>
            <a:ext cx="11049000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937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62175"/>
            <a:ext cx="5381625" cy="1762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162175"/>
            <a:ext cx="5381625" cy="1762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10050"/>
            <a:ext cx="11049000" cy="14668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866775" y="2457450"/>
            <a:ext cx="503062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9FAFB"/>
                </a:solidFill>
                <a:latin typeface="Poppins"/>
                <a:ea typeface="Poppins"/>
                <a:cs typeface="Poppins"/>
                <a:sym typeface="Poppins"/>
              </a:rPr>
              <a:t>Conceitos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66775" y="2876550"/>
            <a:ext cx="47910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Lato"/>
                <a:ea typeface="Lato"/>
                <a:cs typeface="Lato"/>
                <a:sym typeface="Lato"/>
              </a:rPr>
              <a:t>Entender o que é o HTML e por que ele é a linguagem universal das páginas na internet.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534150" y="2457450"/>
            <a:ext cx="503062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0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9FAFB"/>
                </a:solidFill>
                <a:latin typeface="Poppins"/>
                <a:ea typeface="Poppins"/>
                <a:cs typeface="Poppins"/>
                <a:sym typeface="Poppins"/>
              </a:rPr>
              <a:t>Estrutura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534150" y="2876550"/>
            <a:ext cx="47910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Lato"/>
                <a:ea typeface="Lato"/>
                <a:cs typeface="Lato"/>
                <a:sym typeface="Lato"/>
              </a:rPr>
              <a:t>Aprender a "receita" básica de todo arquivo HTML e a hierarquia correta das tags.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66775" y="4505325"/>
            <a:ext cx="1098137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9FAFB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66775" y="4924425"/>
            <a:ext cx="104584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Lato"/>
                <a:ea typeface="Lato"/>
                <a:cs typeface="Lato"/>
                <a:sym typeface="Lato"/>
              </a:rPr>
              <a:t>Criar o seu primeiro arquivo .html e visualizar o resultado no navegador.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505075"/>
            <a:ext cx="180975" cy="1782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34150" y="2505075"/>
            <a:ext cx="200025" cy="1782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66775" y="4552950"/>
            <a:ext cx="21907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937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1453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71500" y="2724150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9FAFB"/>
                </a:solidFill>
                <a:latin typeface="Poppins"/>
                <a:ea typeface="Poppins"/>
                <a:cs typeface="Poppins"/>
                <a:sym typeface="Poppins"/>
              </a:rPr>
              <a:t>O Esqueleto da Web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71500" y="300037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Lato"/>
                <a:ea typeface="Lato"/>
                <a:cs typeface="Lato"/>
                <a:sym typeface="Lato"/>
              </a:rPr>
              <a:t>HTML significa </a:t>
            </a:r>
            <a:r>
              <a:rPr b="1" i="0" lang="en-US" sz="1500" u="none" cap="none" strike="noStrike">
                <a:solidFill>
                  <a:srgbClr val="D1D5DB"/>
                </a:solidFill>
                <a:latin typeface="Lato"/>
                <a:ea typeface="Lato"/>
                <a:cs typeface="Lato"/>
                <a:sym typeface="Lato"/>
              </a:rPr>
              <a:t>HyperText Markup Language</a:t>
            </a:r>
            <a:r>
              <a:rPr b="0" i="0" lang="en-US" sz="1500" u="none" cap="none" strike="noStrike">
                <a:solidFill>
                  <a:srgbClr val="D1D5DB"/>
                </a:solidFill>
                <a:latin typeface="Lato"/>
                <a:ea typeface="Lato"/>
                <a:cs typeface="Lato"/>
                <a:sym typeface="Lato"/>
              </a:rPr>
              <a:t>. Ele não é uma linguagem de programação, mas sim uma linguagem de </a:t>
            </a:r>
            <a:r>
              <a:rPr b="1" i="0" lang="en-US" sz="1500" u="none" cap="none" strike="noStrike">
                <a:solidFill>
                  <a:srgbClr val="D1D5DB"/>
                </a:solidFill>
                <a:latin typeface="Lato"/>
                <a:ea typeface="Lato"/>
                <a:cs typeface="Lato"/>
                <a:sym typeface="Lato"/>
              </a:rPr>
              <a:t>marcação</a:t>
            </a:r>
            <a:r>
              <a:rPr b="0" i="0" lang="en-US" sz="1500" u="none" cap="none" strike="noStrike">
                <a:solidFill>
                  <a:srgbClr val="D1D5DB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571500" y="405765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Lato"/>
                <a:ea typeface="Lato"/>
                <a:cs typeface="Lato"/>
                <a:sym typeface="Lato"/>
              </a:rPr>
              <a:t>Pense no HTML como o esqueleto ou a estrutura de uma casa: ele define onde ficam as paredes, portas e janelas, mas não a cor da tinta ou o tipo de móveis.</a:t>
            </a:r>
            <a:endParaRPr/>
          </a:p>
        </p:txBody>
      </p:sp>
      <p:pic>
        <p:nvPicPr>
          <p:cNvPr descr="image.png" id="115" name="Google Shape;1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24062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O que é o HTML?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937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571500" y="300990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Lato"/>
                <a:ea typeface="Lato"/>
                <a:cs typeface="Lato"/>
                <a:sym typeface="Lato"/>
              </a:rPr>
              <a:t>Todo arquivo HTML começa com uma estrutura padrão, chamada de </a:t>
            </a:r>
            <a:r>
              <a:rPr b="1" i="0" lang="en-US" sz="1500" u="none" cap="none" strike="noStrike">
                <a:solidFill>
                  <a:srgbClr val="D1D5DB"/>
                </a:solidFill>
                <a:latin typeface="Lato"/>
                <a:ea typeface="Lato"/>
                <a:cs typeface="Lato"/>
                <a:sym typeface="Lato"/>
              </a:rPr>
              <a:t>Boilerplate</a:t>
            </a:r>
            <a:r>
              <a:rPr b="0" i="0" lang="en-US" sz="1500" u="none" cap="none" strike="noStrike">
                <a:solidFill>
                  <a:srgbClr val="D1D5DB"/>
                </a:solidFill>
                <a:latin typeface="Lato"/>
                <a:ea typeface="Lato"/>
                <a:cs typeface="Lato"/>
                <a:sym typeface="Lato"/>
              </a:rPr>
              <a:t>. Sem isso, o navegador pode se confundir.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571500" y="4067175"/>
            <a:ext cx="528637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Lato"/>
                <a:ea typeface="Lato"/>
                <a:cs typeface="Lato"/>
                <a:sym typeface="Lato"/>
              </a:rPr>
              <a:t>As tags ,  e  são obrigatórias em qualquer projeto profissional.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A Estrutura Básica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937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09787"/>
            <a:ext cx="36195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119312"/>
            <a:ext cx="36004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6334125" y="3024187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9FAFB"/>
                </a:solidFill>
                <a:latin typeface="Poppins"/>
                <a:ea typeface="Poppins"/>
                <a:cs typeface="Poppins"/>
                <a:sym typeface="Poppins"/>
              </a:rPr>
              <a:t>O Cérebro da Página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6334125" y="3300412"/>
            <a:ext cx="528637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Lato"/>
                <a:ea typeface="Lato"/>
                <a:cs typeface="Lato"/>
                <a:sym typeface="Lato"/>
              </a:rPr>
              <a:t>O  contém informações que </a:t>
            </a:r>
            <a:r>
              <a:rPr b="1" i="0" lang="en-US" sz="1500" u="none" cap="none" strike="noStrike">
                <a:solidFill>
                  <a:srgbClr val="D1D5DB"/>
                </a:solidFill>
                <a:latin typeface="Lato"/>
                <a:ea typeface="Lato"/>
                <a:cs typeface="Lato"/>
                <a:sym typeface="Lato"/>
              </a:rPr>
              <a:t>não aparecem</a:t>
            </a:r>
            <a:r>
              <a:rPr b="0" i="0" lang="en-US" sz="1500" u="none" cap="none" strike="noStrike">
                <a:solidFill>
                  <a:srgbClr val="D1D5DB"/>
                </a:solidFill>
                <a:latin typeface="Lato"/>
                <a:ea typeface="Lato"/>
                <a:cs typeface="Lato"/>
                <a:sym typeface="Lato"/>
              </a:rPr>
              <a:t> visualmente para o usuário, mas são essenciais para o navegador.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6334125" y="4062412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Lato"/>
                <a:ea typeface="Lato"/>
                <a:cs typeface="Lato"/>
                <a:sym typeface="Lato"/>
              </a:rPr>
              <a:t>Aqui configuramos o título da aba, o conjunto de caracteres (UTF-8) e links para arquivos externos como o CSS.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A Tag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937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/>
          <p:nvPr/>
        </p:nvSpPr>
        <p:spPr>
          <a:xfrm>
            <a:off x="571500" y="3157537"/>
            <a:ext cx="20383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22D3EE"/>
                </a:solidFill>
                <a:latin typeface="Lato"/>
                <a:ea typeface="Lato"/>
                <a:cs typeface="Lato"/>
                <a:sym typeface="Lato"/>
              </a:rPr>
              <a:t>H1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3181350" y="3171825"/>
            <a:ext cx="886110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9FAFB"/>
                </a:solidFill>
                <a:latin typeface="Poppins"/>
                <a:ea typeface="Poppins"/>
                <a:cs typeface="Poppins"/>
                <a:sym typeface="Poppins"/>
              </a:rPr>
              <a:t>O Título Principal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3181350" y="3448050"/>
            <a:ext cx="84391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Lato"/>
                <a:ea typeface="Lato"/>
                <a:cs typeface="Lato"/>
                <a:sym typeface="Lato"/>
              </a:rPr>
              <a:t>As tags de cabeçalho vão de  até . Elas definem a importância do conteúdo.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3181350" y="3905250"/>
            <a:ext cx="84391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D5DB"/>
                </a:solidFill>
                <a:latin typeface="Lato"/>
                <a:ea typeface="Lato"/>
                <a:cs typeface="Lato"/>
                <a:sym typeface="Lato"/>
              </a:rPr>
              <a:t>Regra de Ouro: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Lato"/>
                <a:ea typeface="Lato"/>
                <a:cs typeface="Lato"/>
                <a:sym typeface="Lato"/>
              </a:rPr>
              <a:t> Use apenas UM  por página. Isso ajuda o Google a entender o seu site e melhora a acessibilidade.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Hierarquia de Títulos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937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>
            <a:off x="952500" y="2833687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D5DB"/>
                </a:solidFill>
                <a:latin typeface="Lato"/>
                <a:ea typeface="Lato"/>
                <a:cs typeface="Lato"/>
                <a:sym typeface="Lato"/>
              </a:rPr>
              <a:t>A tag 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Lato"/>
                <a:ea typeface="Lato"/>
                <a:cs typeface="Lato"/>
                <a:sym typeface="Lato"/>
              </a:rPr>
              <a:t> Define um parágrafo. O navegador adiciona automaticamente um espaço entre eles.</a:t>
            </a:r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952500" y="3376612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D5DB"/>
                </a:solidFill>
                <a:latin typeface="Lato"/>
                <a:ea typeface="Lato"/>
                <a:cs typeface="Lato"/>
                <a:sym typeface="Lato"/>
              </a:rPr>
              <a:t>A tag 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Lato"/>
                <a:ea typeface="Lato"/>
                <a:cs typeface="Lato"/>
                <a:sym typeface="Lato"/>
              </a:rPr>
              <a:t> Define um texto com forte importância (visualizado como negrito).</a:t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952500" y="3919537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D5DB"/>
                </a:solidFill>
                <a:latin typeface="Lato"/>
                <a:ea typeface="Lato"/>
                <a:cs typeface="Lato"/>
                <a:sym typeface="Lato"/>
              </a:rPr>
              <a:t>A tag 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Lato"/>
                <a:ea typeface="Lato"/>
                <a:cs typeface="Lato"/>
                <a:sym typeface="Lato"/>
              </a:rPr>
              <a:t> Define ênfase no texto (visualizado como itálico).</a:t>
            </a:r>
            <a:endParaRPr/>
          </a:p>
        </p:txBody>
      </p:sp>
      <p:sp>
        <p:nvSpPr>
          <p:cNvPr id="154" name="Google Shape;154;p19"/>
          <p:cNvSpPr txBox="1"/>
          <p:nvPr/>
        </p:nvSpPr>
        <p:spPr>
          <a:xfrm>
            <a:off x="952500" y="4462462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D5DB"/>
                </a:solidFill>
                <a:latin typeface="Lato"/>
                <a:ea typeface="Lato"/>
                <a:cs typeface="Lato"/>
                <a:sym typeface="Lato"/>
              </a:rPr>
              <a:t>Semântica: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Lato"/>
                <a:ea typeface="Lato"/>
                <a:cs typeface="Lato"/>
                <a:sym typeface="Lato"/>
              </a:rPr>
              <a:t> Lembre-se, usamos tags para dar </a:t>
            </a:r>
            <a:r>
              <a:rPr b="1" i="0" lang="en-US" sz="1500" u="none" cap="none" strike="noStrike">
                <a:solidFill>
                  <a:srgbClr val="D1D5DB"/>
                </a:solidFill>
                <a:latin typeface="Lato"/>
                <a:ea typeface="Lato"/>
                <a:cs typeface="Lato"/>
                <a:sym typeface="Lato"/>
              </a:rPr>
              <a:t>significado</a:t>
            </a:r>
            <a:r>
              <a:rPr b="0" i="0" lang="en-US" sz="1500" u="none" cap="none" strike="noStrike">
                <a:solidFill>
                  <a:srgbClr val="D1D5DB"/>
                </a:solidFill>
                <a:latin typeface="Lato"/>
                <a:ea typeface="Lato"/>
                <a:cs typeface="Lato"/>
                <a:sym typeface="Lato"/>
              </a:rPr>
              <a:t>, não apenas estilo.</a:t>
            </a:r>
            <a:endParaRPr/>
          </a:p>
        </p:txBody>
      </p:sp>
      <p:pic>
        <p:nvPicPr>
          <p:cNvPr descr="image.png" id="155" name="Google Shape;15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71787"/>
            <a:ext cx="2095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414712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57637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500562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9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Textos e Formatação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937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3291929"/>
            <a:ext cx="5286375" cy="1255216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0"/>
          <p:cNvSpPr txBox="1"/>
          <p:nvPr/>
        </p:nvSpPr>
        <p:spPr>
          <a:xfrm>
            <a:off x="571500" y="3167062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9FAFB"/>
                </a:solidFill>
                <a:latin typeface="Poppins"/>
                <a:ea typeface="Poppins"/>
                <a:cs typeface="Poppins"/>
                <a:sym typeface="Poppins"/>
              </a:rPr>
              <a:t>Links e Imagens</a:t>
            </a:r>
            <a:endParaRPr/>
          </a:p>
        </p:txBody>
      </p:sp>
      <p:sp>
        <p:nvSpPr>
          <p:cNvPr id="167" name="Google Shape;167;p20"/>
          <p:cNvSpPr txBox="1"/>
          <p:nvPr/>
        </p:nvSpPr>
        <p:spPr>
          <a:xfrm>
            <a:off x="571500" y="3443287"/>
            <a:ext cx="5286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Lato"/>
                <a:ea typeface="Lato"/>
                <a:cs typeface="Lato"/>
                <a:sym typeface="Lato"/>
              </a:rPr>
              <a:t>A tag  cria hiperlinks. O atributo href define o destino.</a:t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571500" y="3900487"/>
            <a:ext cx="5286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Lato"/>
                <a:ea typeface="Lato"/>
                <a:cs typeface="Lato"/>
                <a:sym typeface="Lato"/>
              </a:rPr>
              <a:t>A tag  insere imagens. Ela não tem tag de fechamento (self-closing). Sempre use o atributo alt para descrever a imagem.</a:t>
            </a:r>
            <a:endParaRPr/>
          </a:p>
        </p:txBody>
      </p:sp>
      <p:sp>
        <p:nvSpPr>
          <p:cNvPr id="169" name="Google Shape;169;p20"/>
          <p:cNvSpPr txBox="1"/>
          <p:nvPr/>
        </p:nvSpPr>
        <p:spPr>
          <a:xfrm>
            <a:off x="6524625" y="3482429"/>
            <a:ext cx="49053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Fira Code"/>
                <a:ea typeface="Fira Code"/>
                <a:cs typeface="Fira Code"/>
                <a:sym typeface="Fira Code"/>
              </a:rPr>
              <a:t>Link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Conectando a Web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937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6" name="Google Shape;176;p21"/>
          <p:cNvGraphicFramePr/>
          <p:nvPr/>
        </p:nvGraphicFramePr>
        <p:xfrm>
          <a:off x="571500" y="25622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{B3897C9D-365C-473B-9658-7F41A383D99F}</a:tableStyleId>
              </a:tblPr>
              <a:tblGrid>
                <a:gridCol w="2946350"/>
                <a:gridCol w="1876575"/>
                <a:gridCol w="2139550"/>
                <a:gridCol w="4086525"/>
              </a:tblGrid>
              <a:tr h="660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1D5D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Tipo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1D5D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Tag Pai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1D5D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Tag Item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1D5D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Resultado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Não Ordenada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22D3EE"/>
                          </a:solidFill>
                          <a:highlight>
                            <a:srgbClr val="111827"/>
                          </a:highlight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&lt;ul&gt;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22D3EE"/>
                          </a:solidFill>
                          <a:highlight>
                            <a:srgbClr val="111827"/>
                          </a:highlight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&lt;li&gt;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Marcadores </a:t>
                      </a: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(bolinhas)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Ordenada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22D3EE"/>
                          </a:solidFill>
                          <a:highlight>
                            <a:srgbClr val="111827"/>
                          </a:highlight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&lt;ol&gt;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22D3EE"/>
                          </a:solidFill>
                          <a:highlight>
                            <a:srgbClr val="111827"/>
                          </a:highlight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&lt;li&gt;</a:t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Números (1, 2, 3...)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7" name="Google Shape;177;p21"/>
          <p:cNvSpPr txBox="1"/>
          <p:nvPr/>
        </p:nvSpPr>
        <p:spPr>
          <a:xfrm>
            <a:off x="571500" y="482917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D1D5DB"/>
                </a:solidFill>
                <a:latin typeface="Lato"/>
                <a:ea typeface="Lato"/>
                <a:cs typeface="Lato"/>
                <a:sym typeface="Lato"/>
              </a:rPr>
              <a:t>Listas são fundamentais para criar menus de navegação no futuro.</a:t>
            </a:r>
            <a:endParaRPr/>
          </a:p>
        </p:txBody>
      </p:sp>
      <p:sp>
        <p:nvSpPr>
          <p:cNvPr id="178" name="Google Shape;178;p21"/>
          <p:cNvSpPr/>
          <p:nvPr/>
        </p:nvSpPr>
        <p:spPr>
          <a:xfrm>
            <a:off x="571500" y="3119437"/>
            <a:ext cx="2946350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1"/>
          <p:cNvSpPr/>
          <p:nvPr/>
        </p:nvSpPr>
        <p:spPr>
          <a:xfrm>
            <a:off x="3517850" y="3119437"/>
            <a:ext cx="1876573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1"/>
          <p:cNvSpPr/>
          <p:nvPr/>
        </p:nvSpPr>
        <p:spPr>
          <a:xfrm>
            <a:off x="5394424" y="3119437"/>
            <a:ext cx="2139553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7533977" y="3119437"/>
            <a:ext cx="4086522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571500" y="3824287"/>
            <a:ext cx="2946350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3517850" y="3824287"/>
            <a:ext cx="1876573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5394424" y="3824287"/>
            <a:ext cx="2139553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7533977" y="3824287"/>
            <a:ext cx="4086522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571500" y="4529137"/>
            <a:ext cx="2946350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3517850" y="4529137"/>
            <a:ext cx="1876573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5394424" y="4529137"/>
            <a:ext cx="2139553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7533977" y="4529137"/>
            <a:ext cx="4086522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Organizando com Listas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937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2"/>
          <p:cNvSpPr txBox="1"/>
          <p:nvPr/>
        </p:nvSpPr>
        <p:spPr>
          <a:xfrm>
            <a:off x="571500" y="571500"/>
            <a:ext cx="52006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HTML Semântico</a:t>
            </a:r>
            <a:endParaRPr/>
          </a:p>
        </p:txBody>
      </p:sp>
      <p:pic>
        <p:nvPicPr>
          <p:cNvPr descr="image.png" id="197" name="Google Shape;19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2"/>
          <p:cNvSpPr txBox="1"/>
          <p:nvPr/>
        </p:nvSpPr>
        <p:spPr>
          <a:xfrm>
            <a:off x="571500" y="1552575"/>
            <a:ext cx="52006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9FAFB"/>
                </a:solidFill>
                <a:latin typeface="Poppins"/>
                <a:ea typeface="Poppins"/>
                <a:cs typeface="Poppins"/>
                <a:sym typeface="Poppins"/>
              </a:rPr>
              <a:t>Significado é Tudo</a:t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571500" y="1828800"/>
            <a:ext cx="49530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Lato"/>
                <a:ea typeface="Lato"/>
                <a:cs typeface="Lato"/>
                <a:sym typeface="Lato"/>
              </a:rPr>
              <a:t>Usar tags como ,  e  em vez de apenas  ajuda robôs e leitores de tela a navegar no seu site.</a:t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571500" y="25908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Lato"/>
                <a:ea typeface="Lato"/>
                <a:cs typeface="Lato"/>
                <a:sym typeface="Lato"/>
              </a:rPr>
              <a:t>Um código semântico é um código profissional, acessível e otimizado para o SEO.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937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505325"/>
            <a:ext cx="110490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619250"/>
            <a:ext cx="3492549" cy="2505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49799" y="1619250"/>
            <a:ext cx="3492549" cy="2505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28099" y="1619250"/>
            <a:ext cx="3492549" cy="2505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4514850"/>
            <a:ext cx="11029950" cy="1695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3"/>
          <p:cNvSpPr txBox="1"/>
          <p:nvPr/>
        </p:nvSpPr>
        <p:spPr>
          <a:xfrm>
            <a:off x="794225" y="2647950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9FAFB"/>
                </a:solidFill>
                <a:latin typeface="Poppins"/>
                <a:ea typeface="Poppins"/>
                <a:cs typeface="Poppins"/>
                <a:sym typeface="Poppins"/>
              </a:rPr>
              <a:t>Passo 1</a:t>
            </a:r>
            <a:endParaRPr/>
          </a:p>
        </p:txBody>
      </p:sp>
      <p:sp>
        <p:nvSpPr>
          <p:cNvPr id="212" name="Google Shape;212;p23"/>
          <p:cNvSpPr txBox="1"/>
          <p:nvPr/>
        </p:nvSpPr>
        <p:spPr>
          <a:xfrm>
            <a:off x="866775" y="3067050"/>
            <a:ext cx="2901999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Lato"/>
                <a:ea typeface="Lato"/>
                <a:cs typeface="Lato"/>
                <a:sym typeface="Lato"/>
              </a:rPr>
              <a:t>Abra o VS Code e crie um arquivo chamado index.html.</a:t>
            </a:r>
            <a:endParaRPr/>
          </a:p>
        </p:txBody>
      </p:sp>
      <p:sp>
        <p:nvSpPr>
          <p:cNvPr id="213" name="Google Shape;213;p23"/>
          <p:cNvSpPr txBox="1"/>
          <p:nvPr/>
        </p:nvSpPr>
        <p:spPr>
          <a:xfrm>
            <a:off x="4572524" y="2647950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9FAFB"/>
                </a:solidFill>
                <a:latin typeface="Poppins"/>
                <a:ea typeface="Poppins"/>
                <a:cs typeface="Poppins"/>
                <a:sym typeface="Poppins"/>
              </a:rPr>
              <a:t>Passo 2</a:t>
            </a:r>
            <a:endParaRPr/>
          </a:p>
        </p:txBody>
      </p:sp>
      <p:sp>
        <p:nvSpPr>
          <p:cNvPr id="214" name="Google Shape;214;p23"/>
          <p:cNvSpPr txBox="1"/>
          <p:nvPr/>
        </p:nvSpPr>
        <p:spPr>
          <a:xfrm>
            <a:off x="4645074" y="3067050"/>
            <a:ext cx="2901999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Lato"/>
                <a:ea typeface="Lato"/>
                <a:cs typeface="Lato"/>
                <a:sym typeface="Lato"/>
              </a:rPr>
              <a:t>Digite ! e aperte Enter para gerar a estrutura básica.</a:t>
            </a:r>
            <a:endParaRPr/>
          </a:p>
        </p:txBody>
      </p:sp>
      <p:sp>
        <p:nvSpPr>
          <p:cNvPr id="215" name="Google Shape;215;p23"/>
          <p:cNvSpPr txBox="1"/>
          <p:nvPr/>
        </p:nvSpPr>
        <p:spPr>
          <a:xfrm>
            <a:off x="8350824" y="2647950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9FAFB"/>
                </a:solidFill>
                <a:latin typeface="Poppins"/>
                <a:ea typeface="Poppins"/>
                <a:cs typeface="Poppins"/>
                <a:sym typeface="Poppins"/>
              </a:rPr>
              <a:t>Passo 3</a:t>
            </a:r>
            <a:endParaRPr/>
          </a:p>
        </p:txBody>
      </p:sp>
      <p:sp>
        <p:nvSpPr>
          <p:cNvPr id="216" name="Google Shape;216;p23"/>
          <p:cNvSpPr txBox="1"/>
          <p:nvPr/>
        </p:nvSpPr>
        <p:spPr>
          <a:xfrm>
            <a:off x="8423374" y="3067050"/>
            <a:ext cx="2901999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Lato"/>
                <a:ea typeface="Lato"/>
                <a:cs typeface="Lato"/>
                <a:sym typeface="Lato"/>
              </a:rPr>
              <a:t>Escreva um h1 com o seu nome e abra no navegador.</a:t>
            </a:r>
            <a:endParaRPr/>
          </a:p>
        </p:txBody>
      </p:sp>
      <p:pic>
        <p:nvPicPr>
          <p:cNvPr descr="image.png" id="217" name="Google Shape;217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060525" y="1962150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838825" y="1962150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645699" y="19621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Hora da Prática!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937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4"/>
          <p:cNvSpPr txBox="1"/>
          <p:nvPr/>
        </p:nvSpPr>
        <p:spPr>
          <a:xfrm>
            <a:off x="295275" y="1947862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Perguntas?</a:t>
            </a:r>
            <a:endParaRPr/>
          </a:p>
        </p:txBody>
      </p:sp>
      <p:sp>
        <p:nvSpPr>
          <p:cNvPr id="227" name="Google Shape;227;p24"/>
          <p:cNvSpPr txBox="1"/>
          <p:nvPr/>
        </p:nvSpPr>
        <p:spPr>
          <a:xfrm>
            <a:off x="571500" y="309086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Lato"/>
                <a:ea typeface="Lato"/>
                <a:cs typeface="Lato"/>
                <a:sym typeface="Lato"/>
              </a:rPr>
              <a:t>A estrutura é o alicerce de qualquer interface web.</a:t>
            </a:r>
            <a:endParaRPr/>
          </a:p>
        </p:txBody>
      </p:sp>
      <p:sp>
        <p:nvSpPr>
          <p:cNvPr id="228" name="Google Shape;228;p24"/>
          <p:cNvSpPr txBox="1"/>
          <p:nvPr/>
        </p:nvSpPr>
        <p:spPr>
          <a:xfrm>
            <a:off x="571500" y="4014787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Lato"/>
                <a:ea typeface="Lato"/>
                <a:cs typeface="Lato"/>
                <a:sym typeface="Lato"/>
              </a:rPr>
              <a:t>Profª Juliana de Sá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